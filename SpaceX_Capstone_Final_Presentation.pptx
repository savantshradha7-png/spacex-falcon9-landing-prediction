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8CB"/>
    <a:srgbClr val="0B49CB"/>
    <a:srgbClr val="F2F4F8"/>
    <a:srgbClr val="1C7DDB"/>
    <a:srgbClr val="121619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 varScale="1">
        <p:scale>
          <a:sx n="117" d="100"/>
          <a:sy n="117" d="100"/>
        </p:scale>
        <p:origin x="184" y="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6/11/relationships/changesInfo" Target="changesInfos/changesInfo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1/27/22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109728" tIns="73152" rIns="109728" bIns="54864" rtlCol="0" anchor="t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43746"/>
                </a:solidFill>
              </a:defRPr>
            </a:pPr>
            <a:r>
              <a:t>Shradha Savant  |  18 October 2026</a:t>
            </a: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Winning the Space Race with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3752"/>
                </a:solidFill>
              </a:defRPr>
            </a:pPr>
            <a:r>
              <a:t>Winning the Space Race with Data Science</a:t>
            </a:r>
          </a:p>
          <a:p>
            <a:pPr>
              <a:defRPr sz="2200">
                <a:solidFill>
                  <a:srgbClr val="325069"/>
                </a:solidFill>
              </a:defRPr>
            </a:pPr>
            <a:r>
              <a:t>Predicting Falcon 9 First-Stage Landing Success</a:t>
            </a:r>
          </a:p>
        </p:txBody>
      </p:sp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109728" tIns="73152" rIns="109728" bIns="54864" anchor="t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Executive Summary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Introduction &amp; business question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Data collection and wrangling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EDA: visualizations and SQL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Interactive Folium map and Plotly Dash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Classification models, results, conclusions, 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2684972"/>
            <a:ext cx="4017889" cy="1039909"/>
          </a:xfrm>
          <a:prstGeom prst="rect">
            <a:avLst/>
          </a:prstGeom>
        </p:spPr>
        <p:txBody>
          <a:bodyPr lIns="109728" tIns="73152" rIns="109728" bIns="54864" anchor="t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Objective: predict whether a Falcon 9 first stage lands successfully.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Methods: SpaceX API + web scraping; data cleaning; EDA with visualization and SQL; Folium and Plotly Dash; classification.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Reference findings: landing success generally improved over time; launch site and orbit were associated with different outcomes.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Benchmark: four baseline classifiers have been reported at about 83.3% test accuracy on the course split. Re-run the attached notebook to verify your exact metrics.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7" y="2521403"/>
            <a:ext cx="5660840" cy="1898424"/>
          </a:xfrm>
          <a:prstGeom prst="rect">
            <a:avLst/>
          </a:prstGeom>
        </p:spPr>
        <p:txBody>
          <a:bodyPr vert="horz" lIns="109728" tIns="73152" rIns="109728" bIns="54864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Business context: Falcon 9 first-stage reuse helps reduce launch costs.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Problem: understand which mission characteristics are associated with landing success and predict recovery outcomes.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Questions: Does success change with flight number or year? How do site, orbit, and payload relate to outcomes? Which classifier performs best?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Target: Class (1 = successful landing, 0 = unsuccessful landing).</a:t>
            </a: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2743200"/>
            <a:ext cx="10058400" cy="1371600"/>
          </a:xfrm>
        </p:spPr>
        <p:txBody>
          <a:bodyPr wrap="square" lIns="109728" rIns="109728" tIns="73152" bIns="54864"/>
          <a:lstStyle/>
          <a:p>
            <a:pPr algn="ctr">
              <a:spcAft>
                <a:spcPts val="700"/>
              </a:spcAft>
              <a:defRPr sz="2400" b="1">
                <a:solidFill>
                  <a:srgbClr val="243746"/>
                </a:solidFill>
              </a:defRPr>
            </a:pPr>
            <a:r>
              <a:t>METHODOLOGY &amp; DATA PREPARATION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109728" tIns="73152" rIns="109728" bIns="54864" anchor="t" wrap="square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spcAft>
                <a:spcPts val="700"/>
              </a:spcAft>
              <a:buNone/>
              <a:defRPr sz="1400">
                <a:solidFill>
                  <a:srgbClr val="243746"/>
                </a:solidFill>
              </a:defRPr>
            </a:pPr>
            <a:r>
              <a:t>1. Collect launch records from the SpaceX REST API.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2. Supplement records using historical launch-page web scraping.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3. Clean missing payload values; standardize fields and create a binary landing class.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4. Explore patterns with charts and SQL.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5. Build Folium map and Plotly Dash dashboard.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6. Train and evaluate Logistic Regression, SVM, Decision Tree, and KNN.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4" name="Picture 13" descr="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920240"/>
            <a:ext cx="530352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 wrap="square" lIns="109728" rIns="109728" tIns="73152" bIns="54864"/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Primary source: SpaceX API — launch records, rocket IDs, launch pads, payloads, and core/landing details.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Secondary source: historical Falcon 9 launch tables collected with Requests and BeautifulSoup.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Normalize JSON into tabular data; join additional details by API identifiers.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Keep the course's prepared date range and record source URLs for reproducibility.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109728" tIns="73152" rIns="109728" bIns="54864" rtlCol="0" anchor="t" wrap="square">
            <a:normAutofit/>
          </a:bodyPr>
          <a:lstStyle/>
          <a:p>
            <a:pPr marL="0" indent="0">
              <a:spcAft>
                <a:spcPts val="700"/>
              </a:spcAft>
              <a:buNone/>
              <a:defRPr sz="1400">
                <a:solidFill>
                  <a:srgbClr val="243746"/>
                </a:solidFill>
              </a:defRPr>
            </a:pPr>
            <a:r>
              <a:t>GET /v4/launches/past (or the fixed course JSON endpoint).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Parse JSON with requests and pandas.json_normalize().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Call rocket, launchpad, payload, and core endpoints to enrich records.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Keep flight number, date, booster, payload mass, orbit, launch site, landing outcome, and coordinates.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Notebook: jupyter-labs-spacex-data-collection-api-v2.ipynb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data collection with SpaceX REST calls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SpaceX API calls notebook </a:t>
            </a:r>
            <a:r>
              <a:rPr lang="en-US" sz="2200">
                <a:solidFill>
                  <a:srgbClr val="1C7DDB"/>
                </a:solidFill>
                <a:latin typeface="Abadi" panose="020B0604020104020204" pitchFamily="34" charset="0"/>
              </a:rPr>
              <a:t>(must include completed code cell and outcome cell),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as an external reference and peer-review purpose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Data Collection – SpaceX API</a:t>
            </a:r>
          </a:p>
        </p:txBody>
      </p:sp>
      <p:pic>
        <p:nvPicPr>
          <p:cNvPr id="7" name="Picture 6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011680"/>
            <a:ext cx="5669280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92288"/>
            <a:ext cx="3932238" cy="38115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web scraping process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the completed web scraping notebook, as an external reference and peer-review purpose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Data Collection –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109728" tIns="73152" rIns="109728" bIns="54864" rtlCol="0" anchor="t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700"/>
              </a:spcAft>
              <a:buFont typeface="Arial" panose="020B0604020202020204" pitchFamily="34" charset="0"/>
              <a:buNone/>
              <a:defRPr sz="1400">
                <a:solidFill>
                  <a:srgbClr val="243746"/>
                </a:solidFill>
              </a:defRPr>
            </a:pPr>
            <a:r>
              <a:t>Requests retrieves the historical launch table; BeautifulSoup parses HTML.</a:t>
            </a: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Extract flight number, launch date, booster, launch site, payload, orbit, customer, and launch outcome.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Clean annotations, footnotes, missing values, and inconsistent text.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Export the parsed records as spacex_web_scraped.csv.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Notebook: jupyter-labs-webscraping.ipynb</a:t>
            </a:r>
          </a:p>
        </p:txBody>
      </p:sp>
      <p:pic>
        <p:nvPicPr>
          <p:cNvPr id="12" name="Picture 11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011680"/>
            <a:ext cx="5669280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8975652" cy="4351338"/>
          </a:xfrm>
          <a:prstGeom prst="rect">
            <a:avLst/>
          </a:prstGeom>
        </p:spPr>
        <p:txBody>
          <a:bodyPr wrap="square" lIns="109728" rIns="109728" tIns="73152" bIns="54864"/>
          <a:lstStyle/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Filter to Falcon 9 launches; reset the flight number sequence.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Inspect data types and missing-value counts.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Impute missing PayloadMass with the column mean; retain missing landing-pad values where no pad was used.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Map landing outcomes into Class: 1 for successful landing and 0 for unsuccessful landing.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Notebook: labs-jupyter-spacex-Data wrangling-v2.ipynb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109728" tIns="73152" rIns="109728" bIns="54864" anchor="t" wrap="square"/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Scatter: Flight Number vs. Launch Site — compare outcomes across sites and flight experience.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Scatter: Payload vs. Launch Site — explore payload patterns by site.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Bar chart: success rate by orbit — compare categories.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Scatter: Flight Number vs. Orbit and Payload vs. Orbit — inspect mission profile trends.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Line chart: yearly average success rate — show changes over time.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Notebook: complete the EDA visualization lab and add its GitHub URL.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</p:spPr>
        <p:txBody>
          <a:bodyPr lIns="109728" tIns="73152" rIns="109728" bIns="54864" anchor="t" wrap="square"/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Distinct launch-site names; launch sites beginning with CCA.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Total NASA (CRS) payload mass and average payload mass for F9 v1.1.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Earliest successful ground-pad landing date.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Booster versions for successful drone-ship landings with payload 4,000–6,000 kg.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Counts of mission outcomes; maximum-payload booster; failed drone-ship outcomes in 2015.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Notebook: add the completed SQL lab and verified query outputs.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EDA with 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Use actual launch-site latitude and longitude from the course data.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Add a marker for each launch site; use popups/tooltips for site names.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Color-code launch outcomes to compare successful and unsuccessful landings.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Use circles/lines and distance calculations for nearby coastline, roads, or railways only when supported by the map data.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Save the interactive map as HTML and capture a screenshot for this report.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vert="horz" lIns="109728" tIns="73152" rIns="109728" bIns="54864" rtlCol="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Dropdown: choose a launch site or view all sites.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Pie chart: successful launch counts by site.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Site-specific pie chart: compare successful and unsuccessful outcomes at the selected site.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Scatter plot: payload mass vs. launch outcome; use controls/range slider to explore payload values.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Run the app locally and replace this report preview with your actual dashboard screenshot.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Build a Dashboard with Plotly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Target: Class (successful vs. unsuccessful first-stage landing).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Features: flight number, payload mass, orbit, launch site, booster details, and engineered categorical indicators.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Split: 80% training / 20% test; course notebook uses random_state=2.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Scale features and apply one-hot encoding to categorical variables.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Tune Logistic Regression, SVM, Decision Tree, and KNN with GridSearchCV.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Compare cross-validation scores and held-out test accuracy; inspect the best model's confusion matrix.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Predictive Analysis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109728" tIns="73152" rIns="109728" bIns="54864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EDA: reported launch success improves after 2013; site, orbit, and payload patterns differ.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SQL: queries summarize launch sites, payloads, landing outcomes, and historical records.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Interactive analytics: Folium shows site geography and outcome markers; Dash supports site/payload filtering.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Predictive analysis: public course-project examples report around 83.3% held-out accuracy for the four baseline models. Your exact output must be verified by running the attached notebook.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9" name="Picture 8" descr="model_accur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828800"/>
            <a:ext cx="530352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solidFill>
            <a:srgbClr val="0948CB"/>
          </a:solidFill>
        </p:spPr>
        <p:txBody>
          <a:bodyPr wrap="square" rtlCol="0" lIns="109728" rIns="109728" tIns="73152" bIns="54864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243746"/>
                </a:solidFill>
              </a:defRPr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640080" y="1508760"/>
            <a:ext cx="3931920" cy="4480560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Scatter points compare flight sequence with launch site.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Later flights tend to show more successful recoveries, consistent with growing operational experience.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Site groups differ in launch volume; CCAFS SLC-40 is a major launch location.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Interpretation is associational, not proof of causation.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Flight Number vs. Launch Site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site_success_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640080" y="1508760"/>
            <a:ext cx="3931920" cy="4480560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Compare payload mass across launch sites and landing outcomes.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The plot helps reveal whether some sites handle a wider payload range.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Published course analyses report that many lower payload missions launched from CCAFS SLC-40.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Use the notebook chart for the exact point-level distribution.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Payload vs. Launch Site</a:t>
            </a:r>
          </a:p>
        </p:txBody>
      </p:sp>
      <p:pic>
        <p:nvPicPr>
          <p:cNvPr id="6" name="Picture 5" descr="payload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640080" y="1508760"/>
            <a:ext cx="3931920" cy="4480560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Bar chart compares the fraction of successful landings for each orbit.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Published examples show high rates for ES-L1, GEO, HEO, and SSO; these categories have small sample sizes.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GTO has a larger sample and a more mixed outcome pattern.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Always consider both success rate and number of launches.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orbit_success_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640080" y="1508760"/>
            <a:ext cx="3931920" cy="4480560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The scatter plot shows how orbit choices changed over the flight sequence.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Course analyses describe a shift in orbit mix over time, including more VLEO missions in later records.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Orbit choice is linked to mission requirements and should not be interpreted as a single cause of landing success.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yearly_trend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640080" y="1508760"/>
            <a:ext cx="3931920" cy="4480560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Compare payload mass distributions across orbit categories.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Payload and orbit are related because each orbit supports different mission needs.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Published analyses note clusters around ISS and GTO payload ranges; exact ranges depend on the selected course dataset.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Use the scatter plot to identify outliers and overlap.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Payload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 descr="payload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640080" y="1508760"/>
            <a:ext cx="3931920" cy="4480560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Yearly success rate is the mean of the binary Class target grouped by launch year.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Published course analyses report unsuccessful early attempts and a general improvement after 2013.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By the later years in the course dataset, the success rate is generally above 50%.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Trend suggests learning over time, but mission mix and technology also change.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Launch Success Yearly Trend</a:t>
            </a:r>
          </a:p>
        </p:txBody>
      </p:sp>
      <p:pic>
        <p:nvPicPr>
          <p:cNvPr id="6" name="Picture 5" descr="yearly_trend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SQL: SELECT DISTINCT Launch_Site FROM SPACEXTBL;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Purpose: list unique launch-site labels.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Expected categories include CCAFS SLC-40, KSC LC-39A, and VAFB SLC-4E; data may include spelling variants.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Insight: normalize inconsistent labels before comparing sites.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All Launch Site Names</a:t>
            </a:r>
          </a:p>
        </p:txBody>
      </p:sp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SQL: SELECT * FROM SPACEXTBL WHERE LAUNCH_SITE LIKE 'CCA%' LIMIT 5;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Purpose: retrieve the first five records whose site label begins with CCA.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LIKE 'CCA%' uses % as a wildcard for any trailing characters.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Insert the query result from your SQL notebook before submission.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Launch Site Names Begin with 'CCA'</a:t>
            </a:r>
          </a:p>
        </p:txBody>
      </p:sp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SQL: SELECT SUM(PAYLOAD_MASS__KG_) FROM SPACEXTBL WHERE CUSTOMER = 'NASA (CRS)';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Purpose: aggregate payload mass for NASA Commercial Resupply Services missions.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SUM computes the total over rows matching the customer condition.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Use the exact total returned by your course dataset; it is not printed in the uploaded notebook.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Total Payload Mass</a:t>
            </a:r>
          </a:p>
        </p:txBody>
      </p:sp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SQL: SELECT AVG(PAYLOAD_MASS__KG_) FROM SPACEXTBL WHERE BOOSTER_VERSION = 'F9 v1.1';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Purpose: calculate mean payload mass for booster version F9 v1.1.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AVG ignores null values in the selected column.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Paste the exact result from your SQL lab.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Average Payload Mass by F9 v1.1</a:t>
            </a:r>
          </a:p>
        </p:txBody>
      </p:sp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109728" tIns="73152" rIns="109728" bIns="54864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SQL: SELECT MIN(DATE) FROM SPACEXTBL WHERE Landing__Outcome = 'Success (ground pad)';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Purpose: find the earliest recorded successful ground-pad landing.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MIN returns the earliest date after date formatting is consistent.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Verify the returned date in your completed SQL notebook.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First Successful Ground Landing Date</a:t>
            </a:r>
          </a:p>
        </p:txBody>
      </p:sp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109728" tIns="73152" rIns="109728" bIns="54864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SQL filters landing outcome to Success (drone ship) and payload mass between 4,000 and 6,000 kg.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The result lists matching booster versions.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This query examines missions where landing method and payload range overlap.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Paste the returned booster-version list from the course SQL output.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Successful Drone Ship Landing with Payload 4,000–6,000 kg</a:t>
            </a:r>
          </a:p>
        </p:txBody>
      </p:sp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SQL counts rows with mission outcome Success or Failure (in flight).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Purpose: summarize mission completion outcomes; this is distinct from first-stage landing success.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Use GROUP BY MISSION_OUTCOME to show each category separately when possible.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Report the actual counts from the SQL output; do not confuse mission outcome with landing outcome.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Successful and Failure Mission Outcomes</a:t>
            </a:r>
          </a:p>
        </p:txBody>
      </p:sp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SQL: select booster version(s) whose payload mass equals the maximum payload mass in the table.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Purpose: identify the highest payload record and associated booster version.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MAX(PAYLOAD_MASS__KG_) finds the largest recorded payload.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If multiple records tie, the query may return more than one booster.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Boosters Carrying Maximum Payload</a:t>
            </a:r>
          </a:p>
        </p:txBody>
      </p:sp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109728" tIns="73152" rIns="109728" bIns="54864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Filter records to year 2015 and landing outcome Failure (drone ship).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Return landing outcome, booster version, and launch-site name.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This query isolates a historical subset for troubleshooting and performance review.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Confirm exact rows and dates from the completed SQL notebook.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2015 Launch Records</a:t>
            </a:r>
          </a:p>
        </p:txBody>
      </p:sp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109728" tIns="73152" rIns="109728" bIns="54864" anchor="t" wrap="square"/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Filter the date range inclusively, group by landing outcome, count rows, and order descending.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The query compares how frequently each landing outcome occurred during the early learning period.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Use date format YYYY-MM-DD for reliable filtering.</a:t>
            </a:r>
          </a:p>
          <a:p>
            <a:pPr>
              <a:spcAft>
                <a:spcPts val="700"/>
              </a:spcAft>
              <a:defRPr sz="1300">
                <a:solidFill>
                  <a:srgbClr val="243746"/>
                </a:solidFill>
              </a:defRPr>
            </a:pPr>
            <a:r>
              <a:t>Insert the exact ordered counts from your SQL notebook.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Rank Landing Outcomes Between 2010-06-04 and 2017-03-20</a:t>
            </a:r>
          </a:p>
        </p:txBody>
      </p:sp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solidFill>
            <a:srgbClr val="0948CB"/>
          </a:solidFill>
        </p:spPr>
        <p:txBody>
          <a:bodyPr wrap="square" rtlCol="0" lIns="109728" rIns="109728" tIns="73152" bIns="54864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243746"/>
                </a:solidFill>
              </a:defRPr>
            </a:pPr>
            <a:r>
              <a:t>INTERACTIVE VISUAL ANALYTICS — FOLIUM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0080" y="1508760"/>
            <a:ext cx="4389120" cy="4480560"/>
          </a:xfrm>
          <a:prstGeom prst="rect">
            <a:avLst/>
          </a:prstGeom>
        </p:spPr>
        <p:txBody>
          <a:bodyPr lIns="109728" tIns="73152" rIns="109728" bIns="54864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Folium markers identify the three main launch locations in the course dataset.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KSC LC-39A and CCAFS SLC-40 are close together on Florida's Atlantic coast; VAFB SLC-4E is in California.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A static coordinate preview is shown here; the interactive Folium HTML should be generated from your lab notebook.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Map coordinates are approximate reference coordinates, not a replacement for your notebook output.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Launch Site Locations on a Global Map</a:t>
            </a:r>
          </a:p>
        </p:txBody>
      </p:sp>
      <p:pic>
        <p:nvPicPr>
          <p:cNvPr id="6" name="Picture 5" descr="launch_sites_st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0080" y="1508760"/>
            <a:ext cx="4389120" cy="4480560"/>
          </a:xfrm>
          <a:prstGeom prst="rect">
            <a:avLst/>
          </a:prstGeom>
        </p:spPr>
        <p:txBody>
          <a:bodyPr lIns="109728" tIns="73152" rIns="109728" bIns="54864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Use marker colors to distinguish successful and unsuccessful first-stage landings.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Popup text should include launch site, flight number, date, and outcome where available.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Compare outcome patterns geographically without implying location alone causes success.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Insert screenshot of the actual interactive Folium map generated by your notebook.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Launch Outcomes by Site</a:t>
            </a:r>
          </a:p>
        </p:txBody>
      </p:sp>
      <p:pic>
        <p:nvPicPr>
          <p:cNvPr id="9" name="Picture 8" descr="launch_sites_st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0080" y="1508760"/>
            <a:ext cx="4389120" cy="4480560"/>
          </a:xfrm>
          <a:prstGeom prst="rect">
            <a:avLst/>
          </a:prstGeom>
        </p:spPr>
        <p:txBody>
          <a:bodyPr lIns="109728" tIns="73152" rIns="109728" bIns="54864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The course lab measures distance from a selected launch site to nearby features such as coastline, roads, railways, or cities.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Use Haversine distance calculations for coordinates; state units clearly.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Published examples suggest launch sites are near coastlines and separated from populated areas and transport infrastructure.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Insert your actual proximity map screenshot and measured distances.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Launch Site Proximity Analysis</a:t>
            </a:r>
          </a:p>
        </p:txBody>
      </p:sp>
      <p:pic>
        <p:nvPicPr>
          <p:cNvPr id="9" name="Picture 8" descr="launch_sites_st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solidFill>
            <a:srgbClr val="0948CB"/>
          </a:solidFill>
        </p:spPr>
        <p:txBody>
          <a:bodyPr wrap="square" rtlCol="0" lIns="109728" rIns="109728" tIns="73152" bIns="54864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243746"/>
                </a:solidFill>
              </a:defRPr>
            </a:pPr>
            <a:r>
              <a:t>INTERACTIVE DASHBOARD — PLOTLY DASH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0080" y="1508760"/>
            <a:ext cx="4389120" cy="4480560"/>
          </a:xfrm>
          <a:prstGeom prst="rect">
            <a:avLst/>
          </a:prstGeom>
        </p:spPr>
        <p:txBody>
          <a:bodyPr lIns="109728" tIns="73152" rIns="109728" bIns="54864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A pie chart summarizes successful launch counts by site.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Use the site dropdown to filter the chart and compare the selected site with all sites.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The dashboard is intended to make comparisons quicker than static tables.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Preview graphic is illustrative; replace it with a screenshot from your running Dash app.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Dashboard: Launch Outcomes Across Sites</a:t>
            </a:r>
          </a:p>
        </p:txBody>
      </p:sp>
      <p:pic>
        <p:nvPicPr>
          <p:cNvPr id="9" name="Picture 8" descr="dashboard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0080" y="1508760"/>
            <a:ext cx="4389120" cy="4480560"/>
          </a:xfrm>
          <a:prstGeom prst="rect">
            <a:avLst/>
          </a:prstGeom>
        </p:spPr>
        <p:txBody>
          <a:bodyPr lIns="109728" tIns="73152" rIns="109728" bIns="54864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Filter to the site with the highest reported success ratio in the chosen dataset.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One published report reports KSC LC-39A at about 76.9%; another reports VAFB SLC-4E at a similar rate.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Small differences in dataset versions and definitions can change the ranking.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Verify the highest ratio in your dashboard before making a definitive claim.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Dashboard: Site with Highest Success Ratio</a:t>
            </a:r>
          </a:p>
        </p:txBody>
      </p:sp>
      <p:pic>
        <p:nvPicPr>
          <p:cNvPr id="9" name="Picture 8" descr="site_success_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0080" y="1508760"/>
            <a:ext cx="4389120" cy="4480560"/>
          </a:xfrm>
          <a:prstGeom prst="rect">
            <a:avLst/>
          </a:prstGeom>
        </p:spPr>
        <p:txBody>
          <a:bodyPr lIns="109728" tIns="73152" rIns="109728" bIns="54864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Scatter plot: payload mass on the x-axis and landing outcome on the y-axis.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Color points by outcome or booster version; use a payload range slider to explore subsets.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Published reference analyses identify a useful payload band around 2,000–5,500 kg, but this should be checked against your dataset.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Use your actual interactive dashboard screenshots for multiple slider settings.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Dashboard: Payload vs. Launch Outcome</a:t>
            </a:r>
          </a:p>
        </p:txBody>
      </p:sp>
      <p:pic>
        <p:nvPicPr>
          <p:cNvPr id="13" name="Picture 12" descr="payload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solidFill>
            <a:srgbClr val="0948CB"/>
          </a:solidFill>
        </p:spPr>
        <p:txBody>
          <a:bodyPr wrap="square" rtlCol="0" lIns="109728" rIns="109728" tIns="73152" bIns="54864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243746"/>
                </a:solidFill>
              </a:defRPr>
            </a:pPr>
            <a:r>
              <a:t>PREDICTIVE ANALYSIS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640080" y="1508760"/>
            <a:ext cx="4389120" cy="4480560"/>
          </a:xfrm>
          <a:prstGeom prst="rect">
            <a:avLst/>
          </a:prstGeom>
        </p:spPr>
        <p:txBody>
          <a:bodyPr vert="horz" lIns="109728" tIns="73152" rIns="109728" bIns="54864" rtlCol="0" anchor="t" wrap="square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Four baseline models: Logistic Regression, Support Vector Machine, Decision Tree, and K-Nearest Neighbors.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A public course-project benchmark reports 83.33% test accuracy for all four models on an 18-row test split.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Cross-validation can still distinguish models even when held-out accuracy ties.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The chart is a reference benchmark, not a claim that your unexecuted notebook produced these results.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0" name="Picture 9" descr="model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640080" y="1508760"/>
            <a:ext cx="4389120" cy="4480560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The matrix compares actual outcomes with predicted outcomes.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True positives/negatives are correct classifications; false positives/negatives are errors.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Reference example: 18 held-out cases, 15 correct (83.3% accuracy), with 3 false positives and no false negatives.</a:t>
            </a:r>
          </a:p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  <a:r>
              <a:t>Re-run the attached model notebook and replace this example matrix with your own output.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10" name="Picture 9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00200"/>
            <a:ext cx="676656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0" y="5806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5A646E"/>
                </a:solidFill>
              </a:defRPr>
            </a:pPr>
            <a:r>
              <a:t>Reference visualization; verify exact figures against your executed course notebook.</a:t>
            </a: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Launch recovery success generally improved as SpaceX gained experience.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Launch site, orbit, payload mass, and flight number are useful exploratory features.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The API and web-scraping workflow creates a structured launch dataset for SQL, visualization, and ML.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A classification model can support early planning, but results depend on the dataset and split.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Next steps: rerun notebooks, verify exact metrics and SQL values, capture Folium/Dash screenshots, and add your own GitHub repository URL.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 wrap="square" lIns="109728" rIns="109728" tIns="73152" bIns="54864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Uploaded course notebooks: API collection, web scraping, data wrangling, and machine-learning prediction.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IBM Applied Data Science Capstone course materials and submission template.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Reference benchmark and qualitative findings: https://github.com/atahabilder1/IBM-Data-Science-Certificate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Additional example findings: https://www.slideshare.net/slideshow/ibm-data-science-capstone-projectspacex-launch-analysis/250941677</a:t>
            </a:r>
          </a:p>
          <a:p>
            <a:pPr>
              <a:spcAft>
                <a:spcPts val="700"/>
              </a:spcAft>
              <a:defRPr sz="1400">
                <a:solidFill>
                  <a:srgbClr val="243746"/>
                </a:solidFill>
              </a:defRPr>
            </a:pPr>
            <a:r>
              <a:t>Repository for this submission: NOT CREATED YET — add your own public GitHub URL after uploading your notebooks and Python files.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pPr>
              <a:defRPr sz="2400" b="1">
                <a:solidFill>
                  <a:srgbClr val="193752"/>
                </a:solidFill>
              </a:defRPr>
            </a:pPr>
            <a:r>
              <a:t>Appendix &amp; References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54480"/>
            <a:ext cx="10515600" cy="4389120"/>
          </a:xfrm>
          <a:prstGeom prst="rect">
            <a:avLst/>
          </a:prstGeom>
          <a:noFill/>
        </p:spPr>
        <p:txBody>
          <a:bodyPr wrap="square" lIns="109728" rIns="109728" tIns="73152" bIns="54864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746"/>
                </a:solidFill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f80a141d-92ca-4d3d-9308-f7e7b1d44ce8"/>
    <ds:schemaRef ds:uri="http://purl.org/dc/dcmitype/"/>
    <ds:schemaRef ds:uri="http://www.w3.org/XML/1998/namespace"/>
    <ds:schemaRef ds:uri="155be751-a274-42e8-93fb-f39d3b9bccc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1346</Words>
  <Application>Microsoft Macintosh PowerPoint</Application>
  <PresentationFormat>Widescreen</PresentationFormat>
  <Paragraphs>234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Abadi</vt:lpstr>
      <vt:lpstr>Arial</vt:lpstr>
      <vt:lpstr>Calibri</vt:lpstr>
      <vt:lpstr>Calibri Light</vt:lpstr>
      <vt:lpstr>IBM Plex Mono SemiBold</vt:lpstr>
      <vt:lpstr>IBM Plex Mono Text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&lt;Title&gt;</dc:title>
  <dc:creator>YAN Luo</dc:creator>
  <cp:lastModifiedBy>YAN Luo</cp:lastModifiedBy>
  <cp:revision>198</cp:revision>
  <dcterms:created xsi:type="dcterms:W3CDTF">2021-04-29T18:58:34Z</dcterms:created>
  <dcterms:modified xsi:type="dcterms:W3CDTF">2022-01-27T14:48:39Z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